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8B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B552"/>
                </a:solidFill>
                <a:latin typeface="Segoe UI"/>
              </a:rPr>
              <a:t>IBM BOB HACKATHON  —  SUBMISSION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Segoe UI"/>
              </a:rPr>
              <a:t>OSS Preflight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889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F7F2E9"/>
                </a:solidFill>
                <a:latin typeface="Segoe UI"/>
              </a:rPr>
              <a:t>Turn an app idea into a ranked, evidence-backed open source starting point — with a generated starter and a passing smoke test.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389120"/>
            <a:ext cx="2651760" cy="1234440"/>
          </a:xfrm>
          <a:prstGeom prst="rect">
            <a:avLst/>
          </a:prstGeom>
          <a:solidFill>
            <a:srgbClr val="223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3</a:t>
            </a:r>
          </a:p>
          <a:p>
            <a:pPr algn="ctr">
              <a:spcBef>
                <a:spcPts val="400"/>
              </a:spcBef>
            </a:pPr>
            <a:r>
              <a:rPr sz="1100">
                <a:solidFill>
                  <a:srgbClr val="AEBDB9"/>
                </a:solidFill>
                <a:latin typeface="Segoe UI"/>
              </a:rPr>
              <a:t>ranked recommendations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389120"/>
            <a:ext cx="2651760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56432" y="4389120"/>
            <a:ext cx="2651760" cy="1234440"/>
          </a:xfrm>
          <a:prstGeom prst="rect">
            <a:avLst/>
          </a:prstGeom>
          <a:solidFill>
            <a:srgbClr val="223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13/13</a:t>
            </a:r>
          </a:p>
          <a:p>
            <a:pPr algn="ctr">
              <a:spcBef>
                <a:spcPts val="400"/>
              </a:spcBef>
            </a:pPr>
            <a:r>
              <a:rPr sz="1100">
                <a:solidFill>
                  <a:srgbClr val="AEBDB9"/>
                </a:solidFill>
                <a:latin typeface="Segoe UI"/>
              </a:rPr>
              <a:t>production checks, 0 blockers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6432" y="4389120"/>
            <a:ext cx="2651760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2784" y="4389120"/>
            <a:ext cx="2651760" cy="1234440"/>
          </a:xfrm>
          <a:prstGeom prst="rect">
            <a:avLst/>
          </a:prstGeom>
          <a:solidFill>
            <a:srgbClr val="223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181</a:t>
            </a:r>
          </a:p>
          <a:p>
            <a:pPr algn="ctr">
              <a:spcBef>
                <a:spcPts val="400"/>
              </a:spcBef>
            </a:pPr>
            <a:r>
              <a:rPr sz="1100">
                <a:solidFill>
                  <a:srgbClr val="AEBDB9"/>
                </a:solidFill>
                <a:latin typeface="Segoe UI"/>
              </a:rPr>
              <a:t>tests green (unmocked CLI)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2784" y="4389120"/>
            <a:ext cx="2651760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89136" y="4389120"/>
            <a:ext cx="2651760" cy="1234440"/>
          </a:xfrm>
          <a:prstGeom prst="rect">
            <a:avLst/>
          </a:prstGeom>
          <a:solidFill>
            <a:srgbClr val="223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npm + PyPI</a:t>
            </a:r>
          </a:p>
          <a:p>
            <a:pPr algn="ctr">
              <a:spcBef>
                <a:spcPts val="400"/>
              </a:spcBef>
            </a:pPr>
            <a:r>
              <a:rPr sz="1100">
                <a:solidFill>
                  <a:srgbClr val="AEBDB9"/>
                </a:solidFill>
                <a:latin typeface="Segoe UI"/>
              </a:rPr>
              <a:t>real registry evidence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89136" y="4389120"/>
            <a:ext cx="2651760" cy="548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EBDB9"/>
                </a:solidFill>
                <a:latin typeface="Segoe UI"/>
              </a:rPr>
              <a:t>OSS Preflight</a:t>
            </a:r>
            <a:r>
              <a:rPr sz="1000">
                <a:solidFill>
                  <a:srgbClr val="AEBDB9"/>
                </a:solidFill>
                <a:latin typeface="Segoe UI"/>
              </a:rPr>
              <a:t>          •          Title          •          IBM Bob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8B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B552"/>
                </a:solidFill>
                <a:latin typeface="Segoe UI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Developers lose time choosing a stack before they write useful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10789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>
                <a:solidFill>
                  <a:srgbClr val="2A9D8F"/>
                </a:solidFill>
                <a:latin typeface="Segoe UI"/>
              </a:rPr>
              <a:t>▸  </a:t>
            </a:r>
            <a:r>
              <a:rPr sz="1900">
                <a:solidFill>
                  <a:srgbClr val="F7F2E9"/>
                </a:solidFill>
                <a:latin typeface="Segoe UI"/>
              </a:rPr>
              <a:t>Package choice is driven by memory, popularity, or search ranking — not evidence.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>
                <a:solidFill>
                  <a:srgbClr val="2A9D8F"/>
                </a:solidFill>
                <a:latin typeface="Segoe UI"/>
              </a:rPr>
              <a:t>▸  </a:t>
            </a:r>
            <a:r>
              <a:rPr sz="1900">
                <a:solidFill>
                  <a:srgbClr val="F7F2E9"/>
                </a:solidFill>
                <a:latin typeface="Segoe UI"/>
              </a:rPr>
              <a:t>Measured facts, inferred tradeoffs, and stale assumptions get mixed together.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900">
                <a:solidFill>
                  <a:srgbClr val="2A9D8F"/>
                </a:solidFill>
                <a:latin typeface="Segoe UI"/>
              </a:rPr>
              <a:t>▸  </a:t>
            </a:r>
            <a:r>
              <a:rPr sz="1900">
                <a:solidFill>
                  <a:srgbClr val="F7F2E9"/>
                </a:solidFill>
                <a:latin typeface="Segoe UI"/>
              </a:rPr>
              <a:t>Even a good choice still leaves starter setup and verification work undone.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EBDB9"/>
                </a:solidFill>
                <a:latin typeface="Segoe UI"/>
              </a:rPr>
              <a:t>OSS Preflight</a:t>
            </a:r>
            <a:r>
              <a:rPr sz="1000">
                <a:solidFill>
                  <a:srgbClr val="AEBDB9"/>
                </a:solidFill>
                <a:latin typeface="Segoe UI"/>
              </a:rPr>
              <a:t>          •          Problem          •          IBM Bob Hackathon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8B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B552"/>
                </a:solidFill>
                <a:latin typeface="Segoe U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789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Segoe UI"/>
              </a:rPr>
              <a:t>One honest pipeline: idea → evidence → scaffold → smoke test.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456432" cy="3291840"/>
          </a:xfrm>
          <a:prstGeom prst="roundRect">
            <a:avLst/>
          </a:prstGeom>
          <a:solidFill>
            <a:srgbClr val="22333A"/>
          </a:solidFill>
          <a:ln w="9525">
            <a:solidFill>
              <a:srgbClr val="3A4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/>
          <a:lstStyle/>
          <a:p>
            <a:pPr algn="ctr"/>
            <a:r>
              <a:rPr sz="1800" b="1">
                <a:solidFill>
                  <a:srgbClr val="F8B552"/>
                </a:solidFill>
                <a:latin typeface="Segoe UI"/>
              </a:rPr>
              <a:t>Recommend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00">
                <a:solidFill>
                  <a:srgbClr val="F7F2E9"/>
                </a:solidFill>
                <a:latin typeface="Segoe UI"/>
              </a:rPr>
              <a:t>Parse the idea, run search-first discovery across npm / PyPI / GitHub, collect public facts, and rank candidates deterministically.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9392" y="2286000"/>
            <a:ext cx="3456432" cy="3291840"/>
          </a:xfrm>
          <a:prstGeom prst="roundRect">
            <a:avLst/>
          </a:prstGeom>
          <a:solidFill>
            <a:srgbClr val="22333A"/>
          </a:solidFill>
          <a:ln w="9525">
            <a:solidFill>
              <a:srgbClr val="3A4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/>
          <a:lstStyle/>
          <a:p>
            <a:pPr algn="ctr"/>
            <a:r>
              <a:rPr sz="1800" b="1">
                <a:solidFill>
                  <a:srgbClr val="F8B552"/>
                </a:solidFill>
                <a:latin typeface="Segoe UI"/>
              </a:rPr>
              <a:t>Explain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00">
                <a:solidFill>
                  <a:srgbClr val="F7F2E9"/>
                </a:solidFill>
                <a:latin typeface="Segoe UI"/>
              </a:rPr>
              <a:t>Every package gets an Evidence Passport that separates measured registry facts from AI-generated interpretation.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18704" y="2286000"/>
            <a:ext cx="3456432" cy="3291840"/>
          </a:xfrm>
          <a:prstGeom prst="roundRect">
            <a:avLst/>
          </a:prstGeom>
          <a:solidFill>
            <a:srgbClr val="22333A"/>
          </a:solidFill>
          <a:ln w="9525">
            <a:solidFill>
              <a:srgbClr val="3A4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/>
          <a:lstStyle/>
          <a:p>
            <a:pPr algn="ctr"/>
            <a:r>
              <a:rPr sz="1800" b="1">
                <a:solidFill>
                  <a:srgbClr val="F8B552"/>
                </a:solidFill>
                <a:latin typeface="Segoe UI"/>
              </a:rPr>
              <a:t>Generate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00">
                <a:solidFill>
                  <a:srgbClr val="F7F2E9"/>
                </a:solidFill>
                <a:latin typeface="Segoe UI"/>
              </a:rPr>
              <a:t>Scaffold a runnable starter with mocked messages and a smoke test, or emit an adoption pack when no template fits.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EBDB9"/>
                </a:solidFill>
                <a:latin typeface="Segoe UI"/>
              </a:rPr>
              <a:t>OSS Preflight</a:t>
            </a:r>
            <a:r>
              <a:rPr sz="1000">
                <a:solidFill>
                  <a:srgbClr val="AEBDB9"/>
                </a:solidFill>
                <a:latin typeface="Segoe UI"/>
              </a:rPr>
              <a:t>          •          Solution          •          IBM Bob Hackathon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8B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B552"/>
                </a:solidFill>
                <a:latin typeface="Segoe UI"/>
              </a:rPr>
              <a:t>DIFFERENTIATOR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789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The Evidence Passport: measured fact vs. assessed interpretation.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5349240" cy="3383280"/>
          </a:xfrm>
          <a:prstGeom prst="roundRect">
            <a:avLst/>
          </a:prstGeom>
          <a:solidFill>
            <a:srgbClr val="22333A"/>
          </a:solidFill>
          <a:ln w="9525">
            <a:solidFill>
              <a:srgbClr val="3A4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/>
          <a:lstStyle/>
          <a:p>
            <a:pPr algn="ctr"/>
            <a:r>
              <a:rPr sz="1800" b="1">
                <a:solidFill>
                  <a:srgbClr val="F8B552"/>
                </a:solidFill>
                <a:latin typeface="Segoe UI"/>
              </a:rPr>
              <a:t>Measured (left)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00">
                <a:solidFill>
                  <a:srgbClr val="F7F2E9"/>
                </a:solidFill>
                <a:latin typeface="Segoe UI"/>
              </a:rPr>
              <a:t>Registry metadata, license, latest version, last commit, downloads, OpenSSF score, and the fetch timestamp. Every fact carries its source and collectedAt; missing data is explicit not-available.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2286000"/>
            <a:ext cx="5349240" cy="3383280"/>
          </a:xfrm>
          <a:prstGeom prst="roundRect">
            <a:avLst/>
          </a:prstGeom>
          <a:solidFill>
            <a:srgbClr val="22333A"/>
          </a:solidFill>
          <a:ln w="9525">
            <a:solidFill>
              <a:srgbClr val="3A4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/>
          <a:lstStyle/>
          <a:p>
            <a:pPr algn="ctr"/>
            <a:r>
              <a:rPr sz="1800" b="1">
                <a:solidFill>
                  <a:srgbClr val="F8B552"/>
                </a:solidFill>
                <a:latin typeface="Segoe UI"/>
              </a:rPr>
              <a:t>Assessed (right)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00">
                <a:solidFill>
                  <a:srgbClr val="F7F2E9"/>
                </a:solidFill>
                <a:latin typeface="Segoe UI"/>
              </a:rPr>
              <a:t>Goal fit, tradeoffs, and warnings. Clearly labeled as OSS Preflight's interpretation. The measured/assessed split is enforced in the data model — not just the UI.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EBDB9"/>
                </a:solidFill>
                <a:latin typeface="Segoe UI"/>
              </a:rPr>
              <a:t>OSS Preflight</a:t>
            </a:r>
            <a:r>
              <a:rPr sz="1000">
                <a:solidFill>
                  <a:srgbClr val="AEBDB9"/>
                </a:solidFill>
                <a:latin typeface="Segoe UI"/>
              </a:rPr>
              <a:t>          •          Evidence Passport          •          IBM Bob Hackathon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8B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B552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789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Search-first discovery with an honest workflow trace.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881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600">
                <a:solidFill>
                  <a:srgbClr val="2A9D8F"/>
                </a:solidFill>
                <a:latin typeface="Segoe UI"/>
              </a:rPr>
              <a:t>▸  </a:t>
            </a:r>
            <a:r>
              <a:rPr sz="1600">
                <a:solidFill>
                  <a:srgbClr val="F7F2E9"/>
                </a:solidFill>
                <a:latin typeface="Segoe UI"/>
              </a:rPr>
              <a:t>Discovery calls live npm/PyPI/GitHub search, then blends labeled catalog fallback so broad registry noise can't crowd out known-fit packages.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600">
                <a:solidFill>
                  <a:srgbClr val="2A9D8F"/>
                </a:solidFill>
                <a:latin typeface="Segoe UI"/>
              </a:rPr>
              <a:t>▸  </a:t>
            </a:r>
            <a:r>
              <a:rPr sz="1600">
                <a:solidFill>
                  <a:srgbClr val="F7F2E9"/>
                </a:solidFill>
                <a:latin typeface="Segoe UI"/>
              </a:rPr>
              <a:t>Every run writes workflow.json recording the real discovery method (registry-search / search-with-catalog-fallback / manifest) and candidates.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600">
                <a:solidFill>
                  <a:srgbClr val="2A9D8F"/>
                </a:solidFill>
                <a:latin typeface="Segoe UI"/>
              </a:rPr>
              <a:t>▸  </a:t>
            </a:r>
            <a:r>
              <a:rPr sz="1600">
                <a:solidFill>
                  <a:srgbClr val="F7F2E9"/>
                </a:solidFill>
                <a:latin typeface="Segoe UI"/>
              </a:rPr>
              <a:t>Three real user paths: idea → recommend → scaffold/adoption → run; audit an existing npm or Python project; same CLI via Web bridge or Bob skill.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600">
                <a:solidFill>
                  <a:srgbClr val="2A9D8F"/>
                </a:solidFill>
                <a:latin typeface="Segoe UI"/>
              </a:rPr>
              <a:t>▸  </a:t>
            </a:r>
            <a:r>
              <a:rPr sz="1600">
                <a:solidFill>
                  <a:srgbClr val="F7F2E9"/>
                </a:solidFill>
                <a:latin typeface="Segoe UI"/>
              </a:rPr>
              <a:t>BYOK intent parsing (Anthropic / OpenAI-compatible / Gemini) with a deterministic keyword fallback — the demo runs on a fresh clone, no keys.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EBDB9"/>
                </a:solidFill>
                <a:latin typeface="Segoe UI"/>
              </a:rPr>
              <a:t>OSS Preflight</a:t>
            </a:r>
            <a:r>
              <a:rPr sz="1000">
                <a:solidFill>
                  <a:srgbClr val="AEBDB9"/>
                </a:solidFill>
                <a:latin typeface="Segoe UI"/>
              </a:rPr>
              <a:t>          •          Architecture          •          IBM Bob Hackathon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8B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B552"/>
                </a:solidFill>
                <a:latin typeface="Segoe UI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789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Segoe UI"/>
              </a:rPr>
              <a:t>The verified local demo path is ready.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881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700">
                <a:solidFill>
                  <a:srgbClr val="2A9D8F"/>
                </a:solidFill>
                <a:latin typeface="Segoe UI"/>
              </a:rPr>
              <a:t>▸  </a:t>
            </a:r>
            <a:r>
              <a:rPr sz="1700">
                <a:solidFill>
                  <a:srgbClr val="F7F2E9"/>
                </a:solidFill>
                <a:latin typeface="Segoe UI"/>
              </a:rPr>
              <a:t>Input:  “Discord bot that summarizes channel activity”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700">
                <a:solidFill>
                  <a:srgbClr val="2A9D8F"/>
                </a:solidFill>
                <a:latin typeface="Segoe UI"/>
              </a:rPr>
              <a:t>▸  </a:t>
            </a:r>
            <a:r>
              <a:rPr sz="1700">
                <a:solidFill>
                  <a:srgbClr val="F7F2E9"/>
                </a:solidFill>
                <a:latin typeface="Segoe UI"/>
              </a:rPr>
              <a:t>Result:  three recommendations, with discord.js ranked #1.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700">
                <a:solidFill>
                  <a:srgbClr val="2A9D8F"/>
                </a:solidFill>
                <a:latin typeface="Segoe UI"/>
              </a:rPr>
              <a:t>▸  </a:t>
            </a:r>
            <a:r>
              <a:rPr sz="1700">
                <a:solidFill>
                  <a:srgbClr val="F7F2E9"/>
                </a:solidFill>
                <a:latin typeface="Segoe UI"/>
              </a:rPr>
              <a:t>Scaffold:  generated starter installs deps and passes its smoke test (mocked Discord messages, no credentials required).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700">
                <a:solidFill>
                  <a:srgbClr val="2A9D8F"/>
                </a:solidFill>
                <a:latin typeface="Segoe UI"/>
              </a:rPr>
              <a:t>▸  </a:t>
            </a:r>
            <a:r>
              <a:rPr sz="1700">
                <a:solidFill>
                  <a:srgbClr val="F7F2E9"/>
                </a:solidFill>
                <a:latin typeface="Segoe UI"/>
              </a:rPr>
              <a:t>Build Proof tab surfaces Bob modes, skills, and session exports.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700">
                <a:solidFill>
                  <a:srgbClr val="2A9D8F"/>
                </a:solidFill>
                <a:latin typeface="Segoe UI"/>
              </a:rPr>
              <a:t>▸  </a:t>
            </a:r>
            <a:r>
              <a:rPr sz="1700">
                <a:solidFill>
                  <a:srgbClr val="F7F2E9"/>
                </a:solidFill>
                <a:latin typeface="Segoe UI"/>
              </a:rPr>
              <a:t>Fallback:  README documents the full local path if no public URL is 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EBDB9"/>
                </a:solidFill>
                <a:latin typeface="Segoe UI"/>
              </a:rPr>
              <a:t>OSS Preflight</a:t>
            </a:r>
            <a:r>
              <a:rPr sz="1000">
                <a:solidFill>
                  <a:srgbClr val="AEBDB9"/>
                </a:solidFill>
                <a:latin typeface="Segoe UI"/>
              </a:rPr>
              <a:t>          •          Demo          •          IBM Bob Hackathon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8B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B552"/>
                </a:solidFill>
                <a:latin typeface="Segoe UI"/>
              </a:rPr>
              <a:t>EVIDENCE &amp;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789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Every claim is backed by an executed command.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7F2E9"/>
                </a:solidFill>
                <a:latin typeface="Segoe UI"/>
              </a:rPr>
              <a:t>pnpm validate:production runs the real product — build, full test suite, and live CLI — and fails loudly on regression.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10908792" cy="566928"/>
          </a:xfrm>
          <a:prstGeom prst="rect">
            <a:avLst/>
          </a:prstGeom>
          <a:solidFill>
            <a:srgbClr val="223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907792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7F2E9"/>
                </a:solidFill>
                <a:latin typeface="Segoe UI"/>
              </a:rPr>
              <a:t>Agentic workflow maturity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90779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8B552"/>
                </a:solidFill>
                <a:latin typeface="Segoe UI"/>
              </a:rPr>
              <a:t>8/10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292608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EBDB9"/>
                </a:solidFill>
                <a:latin typeface="Segoe UI"/>
              </a:rPr>
              <a:t>was ~6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429000"/>
            <a:ext cx="10908792" cy="566928"/>
          </a:xfrm>
          <a:prstGeom prst="rect">
            <a:avLst/>
          </a:prstGeom>
          <a:solidFill>
            <a:srgbClr val="1C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47872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7F2E9"/>
                </a:solidFill>
                <a:latin typeface="Segoe UI"/>
              </a:rPr>
              <a:t>Discord CLI demo reliability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54787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8B552"/>
                </a:solidFill>
                <a:latin typeface="Segoe UI"/>
              </a:rPr>
              <a:t>9/10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356616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EBDB9"/>
                </a:solidFill>
                <a:latin typeface="Segoe UI"/>
              </a:rPr>
              <a:t>was ~8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069080"/>
            <a:ext cx="10908792" cy="566928"/>
          </a:xfrm>
          <a:prstGeom prst="rect">
            <a:avLst/>
          </a:prstGeom>
          <a:solidFill>
            <a:srgbClr val="223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87952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7F2E9"/>
                </a:solidFill>
                <a:latin typeface="Segoe UI"/>
              </a:rPr>
              <a:t>Full product demo reliability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18795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8B552"/>
                </a:solidFill>
                <a:latin typeface="Segoe UI"/>
              </a:rPr>
              <a:t>8/10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420624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EBDB9"/>
                </a:solidFill>
                <a:latin typeface="Segoe UI"/>
              </a:rPr>
              <a:t>was ~6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709160"/>
            <a:ext cx="10908792" cy="566928"/>
          </a:xfrm>
          <a:prstGeom prst="rect">
            <a:avLst/>
          </a:prstGeom>
          <a:solidFill>
            <a:srgbClr val="1C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828032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7F2E9"/>
                </a:solidFill>
                <a:latin typeface="Segoe UI"/>
              </a:rPr>
              <a:t>Usefulness on arbitrary projects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82803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8B552"/>
                </a:solidFill>
                <a:latin typeface="Segoe UI"/>
              </a:rPr>
              <a:t>8/10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484632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EBDB9"/>
                </a:solidFill>
                <a:latin typeface="Segoe UI"/>
              </a:rPr>
              <a:t>was ~4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349240"/>
            <a:ext cx="10908792" cy="566928"/>
          </a:xfrm>
          <a:prstGeom prst="rect">
            <a:avLst/>
          </a:prstGeom>
          <a:solidFill>
            <a:srgbClr val="223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468112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7F2E9"/>
                </a:solidFill>
                <a:latin typeface="Segoe UI"/>
              </a:rPr>
              <a:t>Hackathon evidence clarity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546811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8B552"/>
                </a:solidFill>
                <a:latin typeface="Segoe UI"/>
              </a:rPr>
              <a:t>8/10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548640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EBDB9"/>
                </a:solidFill>
                <a:latin typeface="Segoe UI"/>
              </a:rPr>
              <a:t>was ~5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EBDB9"/>
                </a:solidFill>
                <a:latin typeface="Segoe UI"/>
              </a:rPr>
              <a:t>OSS Preflight</a:t>
            </a:r>
            <a:r>
              <a:rPr sz="1000">
                <a:solidFill>
                  <a:srgbClr val="AEBDB9"/>
                </a:solidFill>
                <a:latin typeface="Segoe UI"/>
              </a:rPr>
              <a:t>          •          Evidence &amp; Quality          •          IBM Bob Hackathon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8B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B552"/>
                </a:solidFill>
                <a:latin typeface="Segoe UI"/>
              </a:rPr>
              <a:t>BOB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789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Bob is part of the SDLC, not just the final polish.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456432" cy="3291840"/>
          </a:xfrm>
          <a:prstGeom prst="roundRect">
            <a:avLst/>
          </a:prstGeom>
          <a:solidFill>
            <a:srgbClr val="22333A"/>
          </a:solidFill>
          <a:ln w="9525">
            <a:solidFill>
              <a:srgbClr val="3A4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/>
          <a:lstStyle/>
          <a:p>
            <a:pPr algn="ctr"/>
            <a:r>
              <a:rPr sz="1800" b="1">
                <a:solidFill>
                  <a:srgbClr val="F8B552"/>
                </a:solidFill>
                <a:latin typeface="Segoe UI"/>
              </a:rPr>
              <a:t>Modes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00">
                <a:solidFill>
                  <a:srgbClr val="F7F2E9"/>
                </a:solidFill>
                <a:latin typeface="Segoe UI"/>
              </a:rPr>
              <a:t>Plan, Code, Orchestrator, reviewer, and scoped scaffolder modes drive the build with checkpoints.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9392" y="2286000"/>
            <a:ext cx="3456432" cy="3291840"/>
          </a:xfrm>
          <a:prstGeom prst="roundRect">
            <a:avLst/>
          </a:prstGeom>
          <a:solidFill>
            <a:srgbClr val="22333A"/>
          </a:solidFill>
          <a:ln w="9525">
            <a:solidFill>
              <a:srgbClr val="3A4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/>
          <a:lstStyle/>
          <a:p>
            <a:pPr algn="ctr"/>
            <a:r>
              <a:rPr sz="1800" b="1">
                <a:solidFill>
                  <a:srgbClr val="F8B552"/>
                </a:solidFill>
                <a:latin typeface="Segoe UI"/>
              </a:rPr>
              <a:t>Skills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00">
                <a:solidFill>
                  <a:srgbClr val="F7F2E9"/>
                </a:solidFill>
                <a:latin typeface="Segoe UI"/>
              </a:rPr>
              <a:t>Code review, evidence discipline, test runner, doc writer, Plan Council, and the OSS Preflight advisor skill.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18704" y="2286000"/>
            <a:ext cx="3456432" cy="3291840"/>
          </a:xfrm>
          <a:prstGeom prst="roundRect">
            <a:avLst/>
          </a:prstGeom>
          <a:solidFill>
            <a:srgbClr val="22333A"/>
          </a:solidFill>
          <a:ln w="9525">
            <a:solidFill>
              <a:srgbClr val="3A4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/>
          <a:lstStyle/>
          <a:p>
            <a:pPr algn="ctr"/>
            <a:r>
              <a:rPr sz="1800" b="1">
                <a:solidFill>
                  <a:srgbClr val="F8B552"/>
                </a:solidFill>
                <a:latin typeface="Segoe UI"/>
              </a:rPr>
              <a:t>Exports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300">
                <a:solidFill>
                  <a:srgbClr val="F7F2E9"/>
                </a:solidFill>
                <a:latin typeface="Segoe UI"/>
              </a:rPr>
              <a:t>A single build ledger plus per-session folders committed under bob_sessions/ as machine-checkable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EBDB9"/>
                </a:solidFill>
                <a:latin typeface="Segoe UI"/>
              </a:rPr>
              <a:t>OSS Preflight</a:t>
            </a:r>
            <a:r>
              <a:rPr sz="1000">
                <a:solidFill>
                  <a:srgbClr val="AEBDB9"/>
                </a:solidFill>
                <a:latin typeface="Segoe UI"/>
              </a:rPr>
              <a:t>          •          Bob Evidence          •          IBM Bob Hackathon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8B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B552"/>
                </a:solidFill>
                <a:latin typeface="Segoe UI"/>
              </a:rPr>
              <a:t>TEAM &amp;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Solo build, Bob-assisted delivery, honest remaining actions.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700">
                <a:solidFill>
                  <a:srgbClr val="2A9D8F"/>
                </a:solidFill>
                <a:latin typeface="Segoe UI"/>
              </a:rPr>
              <a:t>▸  </a:t>
            </a:r>
            <a:r>
              <a:rPr sz="1700">
                <a:solidFill>
                  <a:srgbClr val="F7F2E9"/>
                </a:solidFill>
                <a:latin typeface="Segoe UI"/>
              </a:rPr>
              <a:t>Team:  Dreamverse Holdings solo builder, with IBM Bob as the visible engineering partner.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700">
                <a:solidFill>
                  <a:srgbClr val="2A9D8F"/>
                </a:solidFill>
                <a:latin typeface="Segoe UI"/>
              </a:rPr>
              <a:t>▸  </a:t>
            </a:r>
            <a:r>
              <a:rPr sz="1700">
                <a:solidFill>
                  <a:srgbClr val="F7F2E9"/>
                </a:solidFill>
                <a:latin typeface="Segoe UI"/>
              </a:rPr>
              <a:t>Green:  pnpm test (181), pnpm build, pnpm validate:production (13/13, 0 blockers).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700">
                <a:solidFill>
                  <a:srgbClr val="2A9D8F"/>
                </a:solidFill>
                <a:latin typeface="Segoe UI"/>
              </a:rPr>
              <a:t>▸  </a:t>
            </a:r>
            <a:r>
              <a:rPr sz="1700">
                <a:solidFill>
                  <a:srgbClr val="F7F2E9"/>
                </a:solidFill>
                <a:latin typeface="Segoe UI"/>
              </a:rPr>
              <a:t>Known gaps:  browser e2e is still a mocked UI smoke; only Discord has a code template.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700">
                <a:solidFill>
                  <a:srgbClr val="2A9D8F"/>
                </a:solidFill>
                <a:latin typeface="Segoe UI"/>
              </a:rPr>
              <a:t>▸  </a:t>
            </a:r>
            <a:r>
              <a:rPr sz="1700">
                <a:solidFill>
                  <a:srgbClr val="F7F2E9"/>
                </a:solidFill>
                <a:latin typeface="Segoe UI"/>
              </a:rPr>
              <a:t>Still external:  demo video, missing Bob export screenshots, final approved tag.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21208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8B552"/>
                </a:solidFill>
                <a:latin typeface="Segoe UI"/>
              </a:rPr>
              <a:t>Phase P9 — Production Readiness  •  Reviewed 2026-05-17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EBDB9"/>
                </a:solidFill>
                <a:latin typeface="Segoe UI"/>
              </a:rPr>
              <a:t>OSS Preflight</a:t>
            </a:r>
            <a:r>
              <a:rPr sz="1000">
                <a:solidFill>
                  <a:srgbClr val="AEBDB9"/>
                </a:solidFill>
                <a:latin typeface="Segoe UI"/>
              </a:rPr>
              <a:t>          •          Team &amp; Readiness          •          IBM Bob Hackathon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